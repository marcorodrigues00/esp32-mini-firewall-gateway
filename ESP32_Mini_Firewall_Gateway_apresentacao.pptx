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1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1999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Master" Target="slideMasters/slideMaster1.xml"/><Relationship Id="rId12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 standalone="yes"?><p:sld xmlns:a="http://schemas.openxmlformats.org/drawingml/2006/main" xmlns:r="http://schemas.openxmlformats.org/officeDocument/2006/relationships" xmlns:p="http://schemas.openxmlformats.org/presentationml/2006/main"><p:cSld><p:bg><p:bgPr><a:solidFill><a:srgbClr val="FFFFFF"/></a:solidFill><a:effectLst/></p:bgPr></p:bg><p:spTree><p:nvGrpSpPr><p:cNvPr id="1" name=""/><p:cNvGrpSpPr/><p:nvPr/></p:nvGrpSpPr><p:grpSpPr><a:xfrm><a:off x="0" y="0"/><a:ext cx="0" cy="0"/><a:chOff x="0" y="0"/><a:chExt cx="0" cy="0"/></a:xfrm></p:grpSpPr>
    <p:sp>
      <p:nvSpPr><p:cNvPr id="2" name="Band 2"/><p:cNvSpPr/><p:nvPr/></p:nvSpPr>
      <p:spPr><a:xfrm><a:off x="0" y="0"/><a:ext cx="12191999" cy="384048"/></a:xfrm><a:prstGeom prst="rect"><a:avLst/></a:prstGeom><a:solidFill><a:srgbClr val="0F766E"/></a:solidFill><a:ln><a:noFill/></a:ln></p:spPr>
      <p:txBody><a:bodyPr/><a:lstStyle/><a:p/></p:txBody>
    </p:sp>
    <p:sp>
      <p:nvSpPr><p:cNvPr id="3" name="Text 3"/><p:cNvSpPr txBox="1"/><p:nvPr/></p:nvSpPr>
      <p:spPr><a:xfrm><a:off x="502920" y="566928"/><a:ext cx="11155680" cy="502920"/></a:xfrm><a:prstGeom prst="rect"><a:avLst/></a:prstGeom><a:noFill/><a:ln><a:noFill/></a:ln></p:spPr>
      <p:txBody>
        <a:bodyPr wrap="square" anchor="t"/>
        <a:lstStyle/>
        <a:p>
          <a:pPr algn="l"/>
          <a:r><a:rPr lang="pt-BR" sz="3000"><a:b/><a:solidFill><a:srgbClr val="102A43"/></a:solidFill></a:rPr><a:t>ESP32 Mini Firewall Gateway</a:t></a:r>
        </a:p>
      </p:txBody>
    </p:sp>
    <p:sp>
      <p:nvSpPr><p:cNvPr id="4" name="Text 4"/><p:cNvSpPr txBox="1"/><p:nvPr/></p:nvSpPr>
      <p:spPr><a:xfrm><a:off x="530352" y="1078992"/><a:ext cx="10972800" cy="411480"/></a:xfrm><a:prstGeom prst="rect"><a:avLst/></a:prstGeom><a:noFill/><a:ln><a:noFill/></a:ln></p:spPr>
      <p:txBody>
        <a:bodyPr wrap="square" anchor="t"/>
        <a:lstStyle/>
        <a:p>
          <a:pPr algn="l"/>
          <a:r><a:rPr lang="pt-BR" sz="1700"><a:solidFill><a:srgbClr val="52616B"/></a:solidFill></a:rPr><a:t>TDE - Performance de Sistemas Ciberfisicos | estado atual do projeto</a:t></a:r>
        </a:p>
      </p:txBody>
    </p:sp>
    <p:sp>
      <p:nvSpPr><p:cNvPr id="5" name="Text 5"/><p:cNvSpPr txBox="1"/><p:nvPr/></p:nvSpPr>
      <p:spPr><a:xfrm><a:off x="658368" y="1828800"/><a:ext cx="6675120" cy="731520"/></a:xfrm><a:prstGeom prst="rect"><a:avLst/></a:prstGeom><a:noFill/><a:ln><a:noFill/></a:ln></p:spPr>
      <p:txBody>
        <a:bodyPr wrap="square" anchor="t"/>
        <a:lstStyle/>
        <a:p>
          <a:pPr algn="l"/>
          <a:r><a:rPr lang="pt-BR" sz="2800"><a:b/><a:solidFill><a:srgbClr val="102A43"/></a:solidFill></a:rPr><a:t>Projeto academico com ESP32 fisico, Wi-Fi AP e dashboard web embarcado.</a:t></a:r>
        </a:p>
      </p:txBody>
    </p:sp>
    <p:sp>
      <p:nvSpPr><p:cNvPr id="6" name="Bullets 6"/><p:cNvSpPr txBox="1"/><p:nvPr/></p:nvSpPr>
      <p:spPr><a:xfrm><a:off x="822960" y="2743200"/><a:ext cx="6126480" cy="1920240"/></a:xfrm><a:prstGeom prst="rect"><a:avLst/></a:prstGeom><a:noFill/><a:ln><a:noFill/></a:ln></p:spPr>
      <p:txBody><a:bodyPr wrap="square" anchor="t"/><a:lstStyle/>
        <a:p>
          <a:pPr marL="285750" indent="-171450"><a:buChar char="•"/></a:pPr>
          <a:r><a:rPr lang="pt-BR" sz="2100"><a:solidFill><a:srgbClr val="263238"/></a:solidFill></a:rPr><a:t>Escopo didatico/de laboratorio</a:t></a:r>
        </a:p>
        <a:p>
          <a:pPr marL="285750" indent="-171450"><a:buChar char="•"/></a:pPr>
          <a:r><a:rPr lang="pt-BR" sz="2100"><a:solidFill><a:srgbClr val="263238"/></a:solidFill></a:rPr><a:t>Nao substitui firewall profissional</a:t></a:r>
        </a:p>
        <a:p>
          <a:pPr marL="285750" indent="-171450"><a:buChar char="•"/></a:pPr>
          <a:r><a:rPr lang="pt-BR" sz="2100"><a:solidFill><a:srgbClr val="263238"/></a:solidFill></a:rPr><a:t>Versao atual documentada: 0.3.0-fase2</a:t></a:r>
        </a:p>
        <a:p>
          <a:pPr marL="285750" indent="-171450"><a:buChar char="•"/></a:pPr>
          <a:r><a:rPr lang="pt-BR" sz="2100"><a:solidFill><a:srgbClr val="263238"/></a:solidFill></a:rPr><a:t>Evidencias registradas em prints e logs no repositorio</a:t></a:r>
        </a:p></p:txBody>
    </p:sp>
    <p:pic>
      <p:nvPicPr><p:cNvPr id="7" name="Dashboard AP"/><p:cNvPicPr><a:picLocks noChangeAspect="1"/></p:cNvPicPr><p:nvPr/></p:nvPicPr>
      <p:blipFill><a:blip r:embed="rId2"/><a:stretch><a:fillRect/></a:stretch></p:blipFill>
      <p:spPr><a:xfrm><a:off x="7450846" y="1600200"/><a:ext cx="3934947" cy="3474720"/></a:xfrm><a:prstGeom prst="rect"><a:avLst/></a:prstGeom></p:spPr>
    </p:pic>
    <p:sp>
      <p:nvSpPr><p:cNvPr id="8" name="Text 8"/><p:cNvSpPr txBox="1"/><p:nvPr/></p:nvSpPr>
      <p:spPr><a:xfrm><a:off x="530352" y="6473952"/><a:ext cx="11064240" cy="228600"/></a:xfrm><a:prstGeom prst="rect"><a:avLst/></a:prstGeom><a:noFill/><a:ln><a:noFill/></a:ln></p:spPr>
      <p:txBody>
        <a:bodyPr wrap="square" anchor="t"/>
        <a:lstStyle/>
        <a:p>
          <a:pPr algn="r"/>
          <a:r><a:rPr lang="pt-BR" sz="900"><a:solidFill><a:srgbClr val="6B7280"/></a:solidFill></a:rPr><a:t>ESP32 Mini Firewall Gateway | slide 1</a:t></a:r>
        </a:p>
      </p:txBody>
    </p:sp></p:spTree></p:cSld><p:clrMapOvr><a:masterClrMapping/></p:sld>
</file>

<file path=ppt/slides/slide2.xml><?xml version="1.0" encoding="UTF-8" standalone="yes"?><p:sld xmlns:a="http://schemas.openxmlformats.org/drawingml/2006/main" xmlns:r="http://schemas.openxmlformats.org/officeDocument/2006/relationships" xmlns:p="http://schemas.openxmlformats.org/presentationml/2006/main"><p:cSld><p:bg><p:bgPr><a:solidFill><a:srgbClr val="FFFFFF"/></a:solidFill><a:effectLst/></p:bgPr></p:bg><p:spTree><p:nvGrpSpPr><p:cNvPr id="1" name=""/><p:cNvGrpSpPr/><p:nvPr/></p:nvGrpSpPr><p:grpSpPr><a:xfrm><a:off x="0" y="0"/><a:ext cx="0" cy="0"/><a:chOff x="0" y="0"/><a:chExt cx="0" cy="0"/></a:xfrm></p:grpSpPr>
    <p:sp>
      <p:nvSpPr><p:cNvPr id="2" name="Band 2"/><p:cNvSpPr/><p:nvPr/></p:nvSpPr>
      <p:spPr><a:xfrm><a:off x="0" y="0"/><a:ext cx="12191999" cy="384048"/></a:xfrm><a:prstGeom prst="rect"><a:avLst/></a:prstGeom><a:solidFill><a:srgbClr val="0F766E"/></a:solidFill><a:ln><a:noFill/></a:ln></p:spPr>
      <p:txBody><a:bodyPr/><a:lstStyle/><a:p/></p:txBody>
    </p:sp>
    <p:sp>
      <p:nvSpPr><p:cNvPr id="3" name="Text 3"/><p:cNvSpPr txBox="1"/><p:nvPr/></p:nvSpPr>
      <p:spPr><a:xfrm><a:off x="502920" y="566928"/><a:ext cx="11155680" cy="502920"/></a:xfrm><a:prstGeom prst="rect"><a:avLst/></a:prstGeom><a:noFill/><a:ln><a:noFill/></a:ln></p:spPr>
      <p:txBody>
        <a:bodyPr wrap="square" anchor="t"/>
        <a:lstStyle/>
        <a:p>
          <a:pPr algn="l"/>
          <a:r><a:rPr lang="pt-BR" sz="3000"><a:b/><a:solidFill><a:srgbClr val="102A43"/></a:solidFill></a:rPr><a:t>Planejamento e Backlog</a:t></a:r>
        </a:p>
      </p:txBody>
    </p:sp>
    <p:sp>
      <p:nvSpPr><p:cNvPr id="4" name="Text 4"/><p:cNvSpPr txBox="1"/><p:nvPr/></p:nvSpPr>
      <p:spPr><a:xfrm><a:off x="530352" y="1078992"/><a:ext cx="10972800" cy="411480"/></a:xfrm><a:prstGeom prst="rect"><a:avLst/></a:prstGeom><a:noFill/><a:ln><a:noFill/></a:ln></p:spPr>
      <p:txBody>
        <a:bodyPr wrap="square" anchor="t"/>
        <a:lstStyle/>
        <a:p>
          <a:pPr algn="l"/>
          <a:r><a:rPr lang="pt-BR" sz="1700"><a:solidFill><a:srgbClr val="52616B"/></a:solidFill></a:rPr><a:t>Organizacao do trabalho e rastreabilidade</a:t></a:r>
        </a:p>
      </p:txBody>
    </p:sp>
    <p:sp>
      <p:nvSpPr><p:cNvPr id="5" name="Bullets 5"/><p:cNvSpPr txBox="1"/><p:nvPr/></p:nvSpPr>
      <p:spPr><a:xfrm><a:off x="822960" y="1691640"/><a:ext cx="10515600" cy="2560320"/></a:xfrm><a:prstGeom prst="rect"><a:avLst/></a:prstGeom><a:noFill/><a:ln><a:noFill/></a:ln></p:spPr>
      <p:txBody><a:bodyPr wrap="square" anchor="t"/><a:lstStyle/>
        <a:p>
          <a:pPr marL="285750" indent="-171450"><a:buChar char="•"/></a:pPr>
          <a:r><a:rPr lang="pt-BR" sz="2200"><a:solidFill><a:srgbClr val="263238"/></a:solidFill></a:rPr><a:t>Backlog do projeto estruturado no Notion para acompanhar fases, requisitos e pendencias</a:t></a:r>
        </a:p>
        <a:p>
          <a:pPr marL="285750" indent="-171450"><a:buChar char="•"/></a:pPr>
          <a:r><a:rPr lang="pt-BR" sz="2200"><a:solidFill><a:srgbClr val="263238"/></a:solidFill></a:rPr><a:t>Fases planejadas: setup, AP/dashboard, FreeRTOS/metricas, logs, firewall, sensores, atuadores, energia e documentacao</a:t></a:r>
        </a:p>
        <a:p>
          <a:pPr marL="285750" indent="-171450"><a:buChar char="•"/></a:pPr>
          <a:r><a:rPr lang="pt-BR" sz="2200"><a:solidFill><a:srgbClr val="263238"/></a:solidFill></a:rPr><a:t>Uso do backlog para priorizar entregas minimas antes de avancar de fase</a:t></a:r>
        </a:p>
        <a:p>
          <a:pPr marL="285750" indent="-171450"><a:buChar char="•"/></a:pPr>
          <a:r><a:rPr lang="pt-BR" sz="2200"><a:solidFill><a:srgbClr val="263238"/></a:solidFill></a:rPr><a:t>Evidencias associadas ao progresso: upload, serial, AP, dashboard e API de status</a:t></a:r>
        </a:p></p:txBody>
    </p:sp>
    <p:sp>
      <p:nvSpPr><p:cNvPr id="6" name="Band 6"/><p:cNvSpPr/><p:nvPr/></p:nvSpPr>
      <p:spPr><a:xfrm><a:off x="777240" y="4754880"/><a:ext cx="10652760" cy="841248"/></a:xfrm><a:prstGeom prst="rect"><a:avLst/></a:prstGeom><a:solidFill><a:srgbClr val="E6F4F1"/></a:solidFill><a:ln><a:noFill/></a:ln></p:spPr>
      <p:txBody><a:bodyPr/><a:lstStyle/><a:p/></p:txBody>
    </p:sp>
    <p:sp>
      <p:nvSpPr><p:cNvPr id="7" name="Text 7"/><p:cNvSpPr txBox="1"/><p:nvPr/></p:nvSpPr>
      <p:spPr><a:xfrm><a:off x="1005840" y="4910328"/><a:ext cx="10195560" cy="411480"/></a:xfrm><a:prstGeom prst="rect"><a:avLst/></a:prstGeom><a:noFill/><a:ln><a:noFill/></a:ln></p:spPr>
      <p:txBody>
        <a:bodyPr wrap="square" anchor="t"/>
        <a:lstStyle/>
        <a:p>
          <a:pPr algn="l"/>
          <a:r><a:rPr lang="pt-BR" sz="1800"><a:solidFill><a:srgbClr val="0F3D3E"/></a:solidFill></a:rPr><a:t>Mensagem para a defesa: o Notion apoia a gestao do projeto; os resultados tecnicos apresentados aqui estao evidenciados no firmware, docs, prints e logs do repositorio.</a:t></a:r>
        </a:p>
      </p:txBody>
    </p:sp>
    <p:sp>
      <p:nvSpPr><p:cNvPr id="8" name="Text 8"/><p:cNvSpPr txBox="1"/><p:nvPr/></p:nvSpPr>
      <p:spPr><a:xfrm><a:off x="530352" y="6473952"/><a:ext cx="11064240" cy="228600"/></a:xfrm><a:prstGeom prst="rect"><a:avLst/></a:prstGeom><a:noFill/><a:ln><a:noFill/></a:ln></p:spPr>
      <p:txBody>
        <a:bodyPr wrap="square" anchor="t"/>
        <a:lstStyle/>
        <a:p>
          <a:pPr algn="r"/>
          <a:r><a:rPr lang="pt-BR" sz="900"><a:solidFill><a:srgbClr val="6B7280"/></a:solidFill></a:rPr><a:t>ESP32 Mini Firewall Gateway | slide 2</a:t></a:r>
        </a:p>
      </p:txBody>
    </p:sp></p:spTree></p:cSld><p:clrMapOvr><a:masterClrMapping/></p:sld>
</file>

<file path=ppt/slides/slide3.xml><?xml version="1.0" encoding="UTF-8" standalone="yes"?><p:sld xmlns:a="http://schemas.openxmlformats.org/drawingml/2006/main" xmlns:r="http://schemas.openxmlformats.org/officeDocument/2006/relationships" xmlns:p="http://schemas.openxmlformats.org/presentationml/2006/main"><p:cSld><p:bg><p:bgPr><a:solidFill><a:srgbClr val="FFFFFF"/></a:solidFill><a:effectLst/></p:bgPr></p:bg><p:spTree><p:nvGrpSpPr><p:cNvPr id="1" name=""/><p:cNvGrpSpPr/><p:nvPr/></p:nvGrpSpPr><p:grpSpPr><a:xfrm><a:off x="0" y="0"/><a:ext cx="0" cy="0"/><a:chOff x="0" y="0"/><a:chExt cx="0" cy="0"/></a:xfrm></p:grpSpPr>
    <p:sp>
      <p:nvSpPr><p:cNvPr id="2" name="Band 2"/><p:cNvSpPr/><p:nvPr/></p:nvSpPr>
      <p:spPr><a:xfrm><a:off x="0" y="0"/><a:ext cx="12191999" cy="384048"/></a:xfrm><a:prstGeom prst="rect"><a:avLst/></a:prstGeom><a:solidFill><a:srgbClr val="0F766E"/></a:solidFill><a:ln><a:noFill/></a:ln></p:spPr>
      <p:txBody><a:bodyPr/><a:lstStyle/><a:p/></p:txBody>
    </p:sp>
    <p:sp>
      <p:nvSpPr><p:cNvPr id="3" name="Text 3"/><p:cNvSpPr txBox="1"/><p:nvPr/></p:nvSpPr>
      <p:spPr><a:xfrm><a:off x="502920" y="566928"/><a:ext cx="11155680" cy="502920"/></a:xfrm><a:prstGeom prst="rect"><a:avLst/></a:prstGeom><a:noFill/><a:ln><a:noFill/></a:ln></p:spPr>
      <p:txBody>
        <a:bodyPr wrap="square" anchor="t"/>
        <a:lstStyle/>
        <a:p>
          <a:pPr algn="l"/>
          <a:r><a:rPr lang="pt-BR" sz="3000"><a:b/><a:solidFill><a:srgbClr val="102A43"/></a:solidFill></a:rPr><a:t>O Que Ja Temos</a:t></a:r>
        </a:p>
      </p:txBody>
    </p:sp>
    <p:sp>
      <p:nvSpPr><p:cNvPr id="4" name="Text 4"/><p:cNvSpPr txBox="1"/><p:nvPr/></p:nvSpPr>
      <p:spPr><a:xfrm><a:off x="530352" y="1078992"/><a:ext cx="10972800" cy="411480"/></a:xfrm><a:prstGeom prst="rect"><a:avLst/></a:prstGeom><a:noFill/><a:ln><a:noFill/></a:ln></p:spPr>
      <p:txBody>
        <a:bodyPr wrap="square" anchor="t"/>
        <a:lstStyle/>
        <a:p>
          <a:pPr algn="l"/>
          <a:r><a:rPr lang="pt-BR" sz="1700"><a:solidFill><a:srgbClr val="52616B"/></a:solidFill></a:rPr><a:t>Fases 0, 1 e 2 implementadas</a:t></a:r>
        </a:p>
      </p:txBody>
    </p:sp>
    <p:sp>
      <p:nvSpPr><p:cNvPr id="5" name="Bullets 5"/><p:cNvSpPr txBox="1"/><p:nvPr/></p:nvSpPr>
      <p:spPr><a:xfrm><a:off x="685800" y="1600200"/><a:ext cx="5577840" cy="3154680"/></a:xfrm><a:prstGeom prst="rect"><a:avLst/></a:prstGeom><a:noFill/><a:ln><a:noFill/></a:ln></p:spPr>
      <p:txBody><a:bodyPr wrap="square" anchor="t"/><a:lstStyle/>
        <a:p>
          <a:pPr marL="285750" indent="-171450"><a:buChar char="•"/></a:pPr>
          <a:r><a:rPr lang="pt-BR" sz="2100"><a:solidFill><a:srgbClr val="263238"/></a:solidFill></a:rPr><a:t>Fase 0: firmware minimo PlatformIO, boot serial e heartbeat sem delay()</a:t></a:r>
        </a:p>
        <a:p>
          <a:pPr marL="285750" indent="-171450"><a:buChar char="•"/></a:pPr>
          <a:r><a:rPr lang="pt-BR" sz="2100"><a:solidFill><a:srgbClr val="263238"/></a:solidFill></a:rPr><a:t>Fase 1: Wi-Fi AP ESP32-Firewall-Lab, servidor WebServer.h e dashboard com 7 abas</a:t></a:r>
        </a:p>
        <a:p>
          <a:pPr marL="285750" indent="-171450"><a:buChar char="•"/></a:pPr>
          <a:r><a:rPr lang="pt-BR" sz="2100"><a:solidFill><a:srgbClr val="263238"/></a:solidFill></a:rPr><a:t>Fase 2: tasks FreeRTOS, snapshot de metricas com mutex e rota /api/status ampliada</a:t></a:r>
        </a:p>
        <a:p>
          <a:pPr marL="285750" indent="-171450"><a:buChar char="•"/></a:pPr>
          <a:r><a:rPr lang="pt-BR" sz="2100"><a:solidFill><a:srgbClr val="263238"/></a:solidFill></a:rPr><a:t>Dashboard ja exibe performance basica, Wi-Fi AP, tasks planejadas e tempos medidos</a:t></a:r>
        </a:p></p:txBody>
    </p:sp>
    <p:pic>
      <p:nvPicPr><p:cNvPr id="6" name="Serial boot"/><p:cNvPicPr><a:picLocks noChangeAspect="1"/></p:cNvPicPr><p:nvPr/></p:nvPicPr>
      <p:blipFill><a:blip r:embed="rId2"/><a:stretch><a:fillRect/></a:stretch></p:blipFill>
      <p:spPr><a:xfrm><a:off x="6788173" y="1554480"/><a:ext cx="4071573" cy="3611880"/></a:xfrm><a:prstGeom prst="rect"><a:avLst/></a:prstGeom></p:spPr>
    </p:pic>
    <p:sp>
      <p:nvSpPr><p:cNvPr id="7" name="Text 7"/><p:cNvSpPr txBox="1"/><p:nvPr/></p:nvSpPr>
      <p:spPr><a:xfrm><a:off x="530352" y="6473952"/><a:ext cx="11064240" cy="228600"/></a:xfrm><a:prstGeom prst="rect"><a:avLst/></a:prstGeom><a:noFill/><a:ln><a:noFill/></a:ln></p:spPr>
      <p:txBody>
        <a:bodyPr wrap="square" anchor="t"/>
        <a:lstStyle/>
        <a:p>
          <a:pPr algn="r"/>
          <a:r><a:rPr lang="pt-BR" sz="900"><a:solidFill><a:srgbClr val="6B7280"/></a:solidFill></a:rPr><a:t>ESP32 Mini Firewall Gateway | slide 3</a:t></a:r>
        </a:p>
      </p:txBody>
    </p:sp></p:spTree></p:cSld><p:clrMapOvr><a:masterClrMapping/></p:sld>
</file>

<file path=ppt/slides/slide4.xml><?xml version="1.0" encoding="UTF-8" standalone="yes"?><p:sld xmlns:a="http://schemas.openxmlformats.org/drawingml/2006/main" xmlns:r="http://schemas.openxmlformats.org/officeDocument/2006/relationships" xmlns:p="http://schemas.openxmlformats.org/presentationml/2006/main"><p:cSld><p:bg><p:bgPr><a:solidFill><a:srgbClr val="FFFFFF"/></a:solidFill><a:effectLst/></p:bgPr></p:bg><p:spTree><p:nvGrpSpPr><p:cNvPr id="1" name=""/><p:cNvGrpSpPr/><p:nvPr/></p:nvGrpSpPr><p:grpSpPr><a:xfrm><a:off x="0" y="0"/><a:ext cx="0" cy="0"/><a:chOff x="0" y="0"/><a:chExt cx="0" cy="0"/></a:xfrm></p:grpSpPr>
    <p:sp>
      <p:nvSpPr><p:cNvPr id="2" name="Band 2"/><p:cNvSpPr/><p:nvPr/></p:nvSpPr>
      <p:spPr><a:xfrm><a:off x="0" y="0"/><a:ext cx="12191999" cy="384048"/></a:xfrm><a:prstGeom prst="rect"><a:avLst/></a:prstGeom><a:solidFill><a:srgbClr val="0F766E"/></a:solidFill><a:ln><a:noFill/></a:ln></p:spPr>
      <p:txBody><a:bodyPr/><a:lstStyle/><a:p/></p:txBody>
    </p:sp>
    <p:sp>
      <p:nvSpPr><p:cNvPr id="3" name="Text 3"/><p:cNvSpPr txBox="1"/><p:nvPr/></p:nvSpPr>
      <p:spPr><a:xfrm><a:off x="502920" y="566928"/><a:ext cx="11155680" cy="502920"/></a:xfrm><a:prstGeom prst="rect"><a:avLst/></a:prstGeom><a:noFill/><a:ln><a:noFill/></a:ln></p:spPr>
      <p:txBody>
        <a:bodyPr wrap="square" anchor="t"/>
        <a:lstStyle/>
        <a:p>
          <a:pPr algn="l"/>
          <a:r><a:rPr lang="pt-BR" sz="3000"><a:b/><a:solidFill><a:srgbClr val="102A43"/></a:solidFill></a:rPr><a:t>Arquitetura Atual</a:t></a:r>
        </a:p>
      </p:txBody>
    </p:sp>
    <p:sp>
      <p:nvSpPr><p:cNvPr id="4" name="Text 4"/><p:cNvSpPr txBox="1"/><p:nvPr/></p:nvSpPr>
      <p:spPr><a:xfrm><a:off x="530352" y="1078992"/><a:ext cx="10972800" cy="411480"/></a:xfrm><a:prstGeom prst="rect"><a:avLst/></a:prstGeom><a:noFill/><a:ln><a:noFill/></a:ln></p:spPr>
      <p:txBody>
        <a:bodyPr wrap="square" anchor="t"/>
        <a:lstStyle/>
        <a:p>
          <a:pPr algn="l"/>
          <a:r><a:rPr lang="pt-BR" sz="1700"><a:solidFill><a:srgbClr val="52616B"/></a:solidFill></a:rPr><a:t>Firmware embarcado no ESP32</a:t></a:r>
        </a:p>
      </p:txBody>
    </p:sp>
    <p:sp>
      <p:nvSpPr><p:cNvPr id="5" name="Bullets 5"/><p:cNvSpPr txBox="1"/><p:nvPr/></p:nvSpPr>
      <p:spPr><a:xfrm><a:off x="685800" y="1536192"/><a:ext cx="10789920" cy="4206240"/></a:xfrm><a:prstGeom prst="rect"><a:avLst/></a:prstGeom><a:noFill/><a:ln><a:noFill/></a:ln></p:spPr>
      <p:txBody><a:bodyPr wrap="square" anchor="t"/><a:lstStyle/>
        <a:p>
          <a:pPr marL="285750" indent="-171450"><a:buChar char="•"/></a:pPr>
          <a:r><a:rPr lang="pt-BR" sz="2000"><a:solidFill><a:srgbClr val="263238"/></a:solidFill></a:rPr><a:t>Stack: PlatformIO, Arduino C++, WebServer.h sincrono e FreeRTOS nativo</a:t></a:r>
        </a:p>
        <a:p>
          <a:pPr marL="285750" indent="-171450"><a:buChar char="•"/></a:pPr>
          <a:r><a:rPr lang="pt-BR" sz="2000"><a:solidFill><a:srgbClr val="263238"/></a:solidFill></a:rPr><a:t>AP obrigatorio ativo em 192.168.4.1</a:t></a:r>
        </a:p>
        <a:p>
          <a:pPr marL="285750" indent="-171450"><a:buChar char="•"/></a:pPr>
          <a:r><a:rPr lang="pt-BR" sz="2000"><a:solidFill><a:srgbClr val="263238"/></a:solidFill></a:rPr><a:t>taskWebServer no core 1 atendendo server.handleClient() a cada 10 ms</a:t></a:r>
        </a:p>
        <a:p>
          <a:pPr marL="285750" indent="-171450"><a:buChar char="•"/></a:pPr>
          <a:r><a:rPr lang="pt-BR" sz="2000"><a:solidFill><a:srgbClr val="263238"/></a:solidFill></a:rPr><a:t>taskMetrics no core 0 atualizando uptime, heap, flash, sketch e estado do AP</a:t></a:r>
        </a:p>
        <a:p>
          <a:pPr marL="285750" indent="-171450"><a:buChar char="•"/></a:pPr>
          <a:r><a:rPr lang="pt-BR" sz="2000"><a:solidFill><a:srgbClr val="263238"/></a:solidFill></a:rPr><a:t>taskHeartbeat no core 0 registrando atividade serial a cada 5 s</a:t></a:r>
        </a:p>
        <a:p>
          <a:pPr marL="285750" indent="-171450"><a:buChar char="•"/></a:pPr>
          <a:r><a:rPr lang="pt-BR" sz="2000"><a:solidFill><a:srgbClr val="263238"/></a:solidFill></a:rPr><a:t>Snapshot compartilhado protegido por mutex FreeRTOS</a:t></a:r>
        </a:p></p:txBody>
    </p:sp>
    <p:sp>
      <p:nvSpPr><p:cNvPr id="6" name="Text 6"/><p:cNvSpPr txBox="1"/><p:nvPr/></p:nvSpPr>
      <p:spPr><a:xfrm><a:off x="530352" y="6473952"/><a:ext cx="11064240" cy="228600"/></a:xfrm><a:prstGeom prst="rect"><a:avLst/></a:prstGeom><a:noFill/><a:ln><a:noFill/></a:ln></p:spPr>
      <p:txBody>
        <a:bodyPr wrap="square" anchor="t"/>
        <a:lstStyle/>
        <a:p>
          <a:pPr algn="r"/>
          <a:r><a:rPr lang="pt-BR" sz="900"><a:solidFill><a:srgbClr val="6B7280"/></a:solidFill></a:rPr><a:t>ESP32 Mini Firewall Gateway | slide 4</a:t></a:r>
        </a:p>
      </p:txBody>
    </p:sp></p:spTree></p:cSld><p:clrMapOvr><a:masterClrMapping/></p:sld>
</file>

<file path=ppt/slides/slide5.xml><?xml version="1.0" encoding="UTF-8" standalone="yes"?><p:sld xmlns:a="http://schemas.openxmlformats.org/drawingml/2006/main" xmlns:r="http://schemas.openxmlformats.org/officeDocument/2006/relationships" xmlns:p="http://schemas.openxmlformats.org/presentationml/2006/main"><p:cSld><p:bg><p:bgPr><a:solidFill><a:srgbClr val="FFFFFF"/></a:solidFill><a:effectLst/></p:bgPr></p:bg><p:spTree><p:nvGrpSpPr><p:cNvPr id="1" name=""/><p:cNvGrpSpPr/><p:nvPr/></p:nvGrpSpPr><p:grpSpPr><a:xfrm><a:off x="0" y="0"/><a:ext cx="0" cy="0"/><a:chOff x="0" y="0"/><a:chExt cx="0" cy="0"/></a:xfrm></p:grpSpPr>
    <p:sp>
      <p:nvSpPr><p:cNvPr id="2" name="Band 2"/><p:cNvSpPr/><p:nvPr/></p:nvSpPr>
      <p:spPr><a:xfrm><a:off x="0" y="0"/><a:ext cx="12191999" cy="384048"/></a:xfrm><a:prstGeom prst="rect"><a:avLst/></a:prstGeom><a:solidFill><a:srgbClr val="0F766E"/></a:solidFill><a:ln><a:noFill/></a:ln></p:spPr>
      <p:txBody><a:bodyPr/><a:lstStyle/><a:p/></p:txBody>
    </p:sp>
    <p:sp>
      <p:nvSpPr><p:cNvPr id="3" name="Text 3"/><p:cNvSpPr txBox="1"/><p:nvPr/></p:nvSpPr>
      <p:spPr><a:xfrm><a:off x="502920" y="566928"/><a:ext cx="11155680" cy="502920"/></a:xfrm><a:prstGeom prst="rect"><a:avLst/></a:prstGeom><a:noFill/><a:ln><a:noFill/></a:ln></p:spPr>
      <p:txBody>
        <a:bodyPr wrap="square" anchor="t"/>
        <a:lstStyle/>
        <a:p>
          <a:pPr algn="l"/>
          <a:r><a:rPr lang="pt-BR" sz="3000"><a:b/><a:solidFill><a:srgbClr val="102A43"/></a:solidFill></a:rPr><a:t>Dashboard Web</a:t></a:r>
        </a:p>
      </p:txBody>
    </p:sp>
    <p:sp>
      <p:nvSpPr><p:cNvPr id="4" name="Text 4"/><p:cNvSpPr txBox="1"/><p:nvPr/></p:nvSpPr>
      <p:spPr><a:xfrm><a:off x="530352" y="1078992"/><a:ext cx="10972800" cy="411480"/></a:xfrm><a:prstGeom prst="rect"><a:avLst/></a:prstGeom><a:noFill/><a:ln><a:noFill/></a:ln></p:spPr>
      <p:txBody>
        <a:bodyPr wrap="square" anchor="t"/>
        <a:lstStyle/>
        <a:p>
          <a:pPr algn="l"/>
          <a:r><a:rPr lang="pt-BR" sz="1700"><a:solidFill><a:srgbClr val="52616B"/></a:solidFill></a:rPr><a:t>Interface embarcada acessada pelo AP local</a:t></a:r>
        </a:p>
      </p:txBody>
    </p:sp>
    <p:pic>
      <p:nvPicPr><p:cNvPr id="5" name="Dashboard home"/><p:cNvPicPr><a:picLocks noChangeAspect="1"/></p:cNvPicPr><p:nvPr/></p:nvPicPr>
      <p:blipFill><a:blip r:embed="rId2"/><a:stretch><a:fillRect/></a:stretch></p:blipFill>
      <p:spPr><a:xfrm><a:off x="747459" y="1417320"/><a:ext cx="5171057" cy="4480560"/></a:xfrm><a:prstGeom prst="rect"><a:avLst/></a:prstGeom></p:spPr>
    </p:pic>
    <p:pic>
      <p:nvPicPr><p:cNvPr id="6" name="Performance fase 2"/><p:cNvPicPr><a:picLocks noChangeAspect="1"/></p:cNvPicPr><p:nvPr/></p:nvPicPr>
      <p:blipFill><a:blip r:embed="rId3"/><a:stretch><a:fillRect/></a:stretch></p:blipFill>
      <p:spPr><a:xfrm><a:off x="6282690" y="1417320"/><a:ext cx="5128260" cy="4480560"/></a:xfrm><a:prstGeom prst="rect"><a:avLst/></a:prstGeom></p:spPr>
    </p:pic>
    <p:sp>
      <p:nvSpPr><p:cNvPr id="7" name="Text 7"/><p:cNvSpPr txBox="1"/><p:nvPr/></p:nvSpPr>
      <p:spPr><a:xfrm><a:off x="731520" y="5989320"/><a:ext cx="10789920" cy="320040"/></a:xfrm><a:prstGeom prst="rect"><a:avLst/></a:prstGeom><a:noFill/><a:ln><a:noFill/></a:ln></p:spPr>
      <p:txBody>
        <a:bodyPr wrap="square" anchor="t"/>
        <a:lstStyle/>
        <a:p>
          <a:pPr algn="l"/>
          <a:r><a:rPr lang="pt-BR" sz="1600"><a:solidFill><a:srgbClr val="374151"/></a:solidFill></a:rPr><a:t>Abas obrigatorias ja aparecem na interface: Performance, Firewall, Clientes, Logs, Configuracao, Sobre e Changelog.</a:t></a:r>
        </a:p>
      </p:txBody>
    </p:sp>
    <p:sp>
      <p:nvSpPr><p:cNvPr id="8" name="Text 8"/><p:cNvSpPr txBox="1"/><p:nvPr/></p:nvSpPr>
      <p:spPr><a:xfrm><a:off x="530352" y="6473952"/><a:ext cx="11064240" cy="228600"/></a:xfrm><a:prstGeom prst="rect"><a:avLst/></a:prstGeom><a:noFill/><a:ln><a:noFill/></a:ln></p:spPr>
      <p:txBody>
        <a:bodyPr wrap="square" anchor="t"/>
        <a:lstStyle/>
        <a:p>
          <a:pPr algn="r"/>
          <a:r><a:rPr lang="pt-BR" sz="900"><a:solidFill><a:srgbClr val="6B7280"/></a:solidFill></a:rPr><a:t>ESP32 Mini Firewall Gateway | slide 5</a:t></a:r>
        </a:p>
      </p:txBody>
    </p:sp></p:spTree></p:cSld><p:clrMapOvr><a:masterClrMapping/></p:sld>
</file>

<file path=ppt/slides/slide6.xml><?xml version="1.0" encoding="UTF-8" standalone="yes"?><p:sld xmlns:a="http://schemas.openxmlformats.org/drawingml/2006/main" xmlns:r="http://schemas.openxmlformats.org/officeDocument/2006/relationships" xmlns:p="http://schemas.openxmlformats.org/presentationml/2006/main"><p:cSld><p:bg><p:bgPr><a:solidFill><a:srgbClr val="FFFFFF"/></a:solidFill><a:effectLst/></p:bgPr></p:bg><p:spTree><p:nvGrpSpPr><p:cNvPr id="1" name=""/><p:cNvGrpSpPr/><p:nvPr/></p:nvGrpSpPr><p:grpSpPr><a:xfrm><a:off x="0" y="0"/><a:ext cx="0" cy="0"/><a:chOff x="0" y="0"/><a:chExt cx="0" cy="0"/></a:xfrm></p:grpSpPr>
    <p:sp>
      <p:nvSpPr><p:cNvPr id="2" name="Band 2"/><p:cNvSpPr/><p:nvPr/></p:nvSpPr>
      <p:spPr><a:xfrm><a:off x="0" y="0"/><a:ext cx="12191999" cy="384048"/></a:xfrm><a:prstGeom prst="rect"><a:avLst/></a:prstGeom><a:solidFill><a:srgbClr val="0F766E"/></a:solidFill><a:ln><a:noFill/></a:ln></p:spPr>
      <p:txBody><a:bodyPr/><a:lstStyle/><a:p/></p:txBody>
    </p:sp>
    <p:sp>
      <p:nvSpPr><p:cNvPr id="3" name="Text 3"/><p:cNvSpPr txBox="1"/><p:nvPr/></p:nvSpPr>
      <p:spPr><a:xfrm><a:off x="502920" y="566928"/><a:ext cx="11155680" cy="502920"/></a:xfrm><a:prstGeom prst="rect"><a:avLst/></a:prstGeom><a:noFill/><a:ln><a:noFill/></a:ln></p:spPr>
      <p:txBody>
        <a:bodyPr wrap="square" anchor="t"/>
        <a:lstStyle/>
        <a:p>
          <a:pPr algn="l"/>
          <a:r><a:rPr lang="pt-BR" sz="3000"><a:b/><a:solidFill><a:srgbClr val="102A43"/></a:solidFill></a:rPr><a:t>Metricas da Fase 2</a:t></a:r>
        </a:p>
      </p:txBody>
    </p:sp>
    <p:sp>
      <p:nvSpPr><p:cNvPr id="4" name="Text 4"/><p:cNvSpPr txBox="1"/><p:nvPr/></p:nvSpPr>
      <p:spPr><a:xfrm><a:off x="530352" y="1078992"/><a:ext cx="10972800" cy="411480"/></a:xfrm><a:prstGeom prst="rect"><a:avLst/></a:prstGeom><a:noFill/><a:ln><a:noFill/></a:ln></p:spPr>
      <p:txBody>
        <a:bodyPr wrap="square" anchor="t"/>
        <a:lstStyle/>
        <a:p>
          <a:pPr algn="l"/>
          <a:r><a:rPr lang="pt-BR" sz="1700"><a:solidFill><a:srgbClr val="52616B"/></a:solidFill></a:rPr><a:t>Dados reais capturados pela API /api/status</a:t></a:r>
        </a:p>
      </p:txBody>
    </p:sp>
    <p:sp>
      <p:nvSpPr><p:cNvPr id="5" name="Bullets 5"/><p:cNvSpPr txBox="1"/><p:nvPr/></p:nvSpPr>
      <p:spPr><a:xfrm><a:off x="685800" y="1554480"/><a:ext cx="5120640" cy="3200400"/></a:xfrm><a:prstGeom prst="rect"><a:avLst/></a:prstGeom><a:noFill/><a:ln><a:noFill/></a:ln></p:spPr>
      <p:txBody><a:bodyPr wrap="square" anchor="t"/><a:lstStyle/>
        <a:p>
          <a:pPr marL="285750" indent="-171450"><a:buChar char="•"/></a:pPr>
          <a:r><a:rPr lang="pt-BR" sz="2000"><a:solidFill><a:srgbClr val="263238"/></a:solidFill></a:rPr><a:t>Uptime registrado na evidencia: 159 s</a:t></a:r>
        </a:p>
        <a:p>
          <a:pPr marL="285750" indent="-171450"><a:buChar char="•"/></a:pPr>
          <a:r><a:rPr lang="pt-BR" sz="2000"><a:solidFill><a:srgbClr val="263238"/></a:solidFill></a:rPr><a:t>Heap livre: 232920 bytes; heap minimo: 213088 bytes</a:t></a:r>
        </a:p>
        <a:p>
          <a:pPr marL="285750" indent="-171450"><a:buChar char="•"/></a:pPr>
          <a:r><a:rPr lang="pt-BR" sz="2000"><a:solidFill><a:srgbClr val="263238"/></a:solidFill></a:rPr><a:t>Flash detectada: 4194304 bytes; sketch: 791280 bytes</a:t></a:r>
        </a:p>
        <a:p>
          <a:pPr marL="285750" indent="-171450"><a:buChar char="•"/></a:pPr>
          <a:r><a:rPr lang="pt-BR" sz="2000"><a:solidFill><a:srgbClr val="263238"/></a:solidFill></a:rPr><a:t>AP: SSID ESP32-Firewall-Lab e IP 192.168.4.1</a:t></a:r>
        </a:p>
        <a:p>
          <a:pPr marL="285750" indent="-171450"><a:buChar char="•"/></a:pPr>
          <a:r><a:rPr lang="pt-BR" sz="2000"><a:solidFill><a:srgbClr val="263238"/></a:solidFill></a:rPr><a:t>Tempo medido: buildStatusJson 384 us; handleRoot 24770 us</a:t></a:r>
        </a:p></p:txBody>
    </p:sp>
    <p:pic>
      <p:nvPicPr><p:cNvPr id="6" name="API status fase 2"/><p:cNvPicPr><a:picLocks noChangeAspect="1"/></p:cNvPicPr><p:nvPr/></p:nvPicPr>
      <p:blipFill><a:blip r:embed="rId2"/><a:stretch><a:fillRect/></a:stretch></p:blipFill>
      <p:spPr><a:xfrm><a:off x="5989320" y="1739713"/><a:ext cx="5349240" cy="2281293"/></a:xfrm><a:prstGeom prst="rect"><a:avLst/></a:prstGeom></p:spPr>
    </p:pic>
    <p:sp>
      <p:nvSpPr><p:cNvPr id="7" name="Text 7"/><p:cNvSpPr txBox="1"/><p:nvPr/></p:nvSpPr>
      <p:spPr><a:xfrm><a:off x="6172200" y="4800600"/><a:ext cx="4937760" cy="685800"/></a:xfrm><a:prstGeom prst="rect"><a:avLst/></a:prstGeom><a:noFill/><a:ln><a:noFill/></a:ln></p:spPr>
      <p:txBody>
        <a:bodyPr wrap="square" anchor="t"/>
        <a:lstStyle/>
        <a:p>
          <a:pPr algn="l"/>
          <a:r><a:rPr lang="pt-BR" sz="1700"><a:solidFill><a:srgbClr val="6B3F00"/></a:solidFill></a:rPr><a:t>Observacao: tres tempos de funcao ainda aparecem como pendentes e devem ser refinados nas proximas fases.</a:t></a:r>
        </a:p>
      </p:txBody>
    </p:sp>
    <p:sp>
      <p:nvSpPr><p:cNvPr id="8" name="Text 8"/><p:cNvSpPr txBox="1"/><p:nvPr/></p:nvSpPr>
      <p:spPr><a:xfrm><a:off x="530352" y="6473952"/><a:ext cx="11064240" cy="228600"/></a:xfrm><a:prstGeom prst="rect"><a:avLst/></a:prstGeom><a:noFill/><a:ln><a:noFill/></a:ln></p:spPr>
      <p:txBody>
        <a:bodyPr wrap="square" anchor="t"/>
        <a:lstStyle/>
        <a:p>
          <a:pPr algn="r"/>
          <a:r><a:rPr lang="pt-BR" sz="900"><a:solidFill><a:srgbClr val="6B7280"/></a:solidFill></a:rPr><a:t>ESP32 Mini Firewall Gateway | slide 6</a:t></a:r>
        </a:p>
      </p:txBody>
    </p:sp></p:spTree></p:cSld><p:clrMapOvr><a:masterClrMapping/></p:sld>
</file>

<file path=ppt/slides/slide7.xml><?xml version="1.0" encoding="UTF-8" standalone="yes"?><p:sld xmlns:a="http://schemas.openxmlformats.org/drawingml/2006/main" xmlns:r="http://schemas.openxmlformats.org/officeDocument/2006/relationships" xmlns:p="http://schemas.openxmlformats.org/presentationml/2006/main"><p:cSld><p:bg><p:bgPr><a:solidFill><a:srgbClr val="FFFFFF"/></a:solidFill><a:effectLst/></p:bgPr></p:bg><p:spTree><p:nvGrpSpPr><p:cNvPr id="1" name=""/><p:cNvGrpSpPr/><p:nvPr/></p:nvGrpSpPr><p:grpSpPr><a:xfrm><a:off x="0" y="0"/><a:ext cx="0" cy="0"/><a:chOff x="0" y="0"/><a:chExt cx="0" cy="0"/></a:xfrm></p:grpSpPr>
    <p:sp>
      <p:nvSpPr><p:cNvPr id="2" name="Band 2"/><p:cNvSpPr/><p:nvPr/></p:nvSpPr>
      <p:spPr><a:xfrm><a:off x="0" y="0"/><a:ext cx="12191999" cy="384048"/></a:xfrm><a:prstGeom prst="rect"><a:avLst/></a:prstGeom><a:solidFill><a:srgbClr val="0F766E"/></a:solidFill><a:ln><a:noFill/></a:ln></p:spPr>
      <p:txBody><a:bodyPr/><a:lstStyle/><a:p/></p:txBody>
    </p:sp>
    <p:sp>
      <p:nvSpPr><p:cNvPr id="3" name="Text 3"/><p:cNvSpPr txBox="1"/><p:nvPr/></p:nvSpPr>
      <p:spPr><a:xfrm><a:off x="502920" y="566928"/><a:ext cx="11155680" cy="502920"/></a:xfrm><a:prstGeom prst="rect"><a:avLst/></a:prstGeom><a:noFill/><a:ln><a:noFill/></a:ln></p:spPr>
      <p:txBody>
        <a:bodyPr wrap="square" anchor="t"/>
        <a:lstStyle/>
        <a:p>
          <a:pPr algn="l"/>
          <a:r><a:rPr lang="pt-BR" sz="3000"><a:b/><a:solidFill><a:srgbClr val="102A43"/></a:solidFill></a:rPr><a:t>Evidencias Registradas</a:t></a:r>
        </a:p>
      </p:txBody>
    </p:sp>
    <p:sp>
      <p:nvSpPr><p:cNvPr id="4" name="Text 4"/><p:cNvSpPr txBox="1"/><p:nvPr/></p:nvSpPr>
      <p:spPr><a:xfrm><a:off x="530352" y="1078992"/><a:ext cx="10972800" cy="411480"/></a:xfrm><a:prstGeom prst="rect"><a:avLst/></a:prstGeom><a:noFill/><a:ln><a:noFill/></a:ln></p:spPr>
      <p:txBody>
        <a:bodyPr wrap="square" anchor="t"/>
        <a:lstStyle/>
        <a:p>
          <a:pPr algn="l"/>
          <a:r><a:rPr lang="pt-BR" sz="1700"><a:solidFill><a:srgbClr val="52616B"/></a:solidFill></a:rPr><a:t>Provas do funcionamento ja capturadas</a:t></a:r>
        </a:p>
      </p:txBody>
    </p:sp>
    <p:pic>
      <p:nvPicPr><p:cNvPr id="5" name="Upload success"/><p:cNvPicPr><a:picLocks noChangeAspect="1"/></p:cNvPicPr><p:nvPr/></p:nvPicPr>
      <p:blipFill><a:blip r:embed="rId2"/><a:stretch><a:fillRect/></a:stretch></p:blipFill>
      <p:spPr><a:xfrm><a:off x="594360" y="1336590"/><a:ext cx="5166360" cy="2904659"/></a:xfrm><a:prstGeom prst="rect"><a:avLst/></a:prstGeom></p:spPr>
    </p:pic>
    <p:pic>
      <p:nvPicPr><p:cNvPr id="6" name="Wi-Fi AP"/><p:cNvPicPr><a:picLocks noChangeAspect="1"/></p:cNvPicPr><p:nvPr/></p:nvPicPr>
      <p:blipFill><a:blip r:embed="rId3"/><a:stretch><a:fillRect/></a:stretch></p:blipFill>
      <p:spPr><a:xfrm><a:off x="6217920" y="1618314"/><a:ext cx="4206240" cy="649571"/></a:xfrm><a:prstGeom prst="rect"><a:avLst/></a:prstGeom></p:spPr>
    </p:pic>
    <p:pic>
      <p:nvPicPr><p:cNvPr id="7" name="API fase 1"/><p:cNvPicPr><a:picLocks noChangeAspect="1"/></p:cNvPicPr><p:nvPr/></p:nvPicPr>
      <p:blipFill><a:blip r:embed="rId4"/><a:stretch><a:fillRect/></a:stretch></p:blipFill>
      <p:spPr><a:xfrm><a:off x="6381033" y="2788920"/><a:ext cx="3651412" cy="2148840"/></a:xfrm><a:prstGeom prst="rect"><a:avLst/></a:prstGeom></p:spPr>
    </p:pic>
    <p:sp>
      <p:nvSpPr><p:cNvPr id="8" name="Bullets 8"/><p:cNvSpPr txBox="1"/><p:nvPr/></p:nvSpPr>
      <p:spPr><a:xfrm><a:off x="822960" y="4617720"/><a:ext cx="5074920" cy="1234440"/></a:xfrm><a:prstGeom prst="rect"><a:avLst/></a:prstGeom><a:noFill/><a:ln><a:noFill/></a:ln></p:spPr>
      <p:txBody><a:bodyPr wrap="square" anchor="t"/><a:lstStyle/>
        <a:p>
          <a:pPr marL="285750" indent="-171450"><a:buChar char="•"/></a:pPr>
          <a:r><a:rPr lang="pt-BR" sz="1800"><a:solidFill><a:srgbClr val="263238"/></a:solidFill></a:rPr><a:t>Upload do firmware</a:t></a:r>
        </a:p>
        <a:p>
          <a:pPr marL="285750" indent="-171450"><a:buChar char="•"/></a:pPr>
          <a:r><a:rPr lang="pt-BR" sz="1800"><a:solidFill><a:srgbClr val="263238"/></a:solidFill></a:rPr><a:t>Boot e heartbeat no monitor serial</a:t></a:r>
        </a:p>
        <a:p>
          <a:pPr marL="285750" indent="-171450"><a:buChar char="•"/></a:pPr>
          <a:r><a:rPr lang="pt-BR" sz="1800"><a:solidFill><a:srgbClr val="263238"/></a:solidFill></a:rPr><a:t>AP Wi-Fi visivel</a:t></a:r>
        </a:p>
        <a:p>
          <a:pPr marL="285750" indent="-171450"><a:buChar char="•"/></a:pPr>
          <a:r><a:rPr lang="pt-BR" sz="1800"><a:solidFill><a:srgbClr val="263238"/></a:solidFill></a:rPr><a:t>Dashboard web acessivel</a:t></a:r>
        </a:p>
        <a:p>
          <a:pPr marL="285750" indent="-171450"><a:buChar char="•"/></a:pPr>
          <a:r><a:rPr lang="pt-BR" sz="1800"><a:solidFill><a:srgbClr val="263238"/></a:solidFill></a:rPr><a:t>JSON de status das fases 1 e 2</a:t></a:r>
        </a:p></p:txBody>
    </p:sp>
    <p:sp>
      <p:nvSpPr><p:cNvPr id="9" name="Text 9"/><p:cNvSpPr txBox="1"/><p:nvPr/></p:nvSpPr>
      <p:spPr><a:xfrm><a:off x="530352" y="6473952"/><a:ext cx="11064240" cy="228600"/></a:xfrm><a:prstGeom prst="rect"><a:avLst/></a:prstGeom><a:noFill/><a:ln><a:noFill/></a:ln></p:spPr>
      <p:txBody>
        <a:bodyPr wrap="square" anchor="t"/>
        <a:lstStyle/>
        <a:p>
          <a:pPr algn="r"/>
          <a:r><a:rPr lang="pt-BR" sz="900"><a:solidFill><a:srgbClr val="6B7280"/></a:solidFill></a:rPr><a:t>ESP32 Mini Firewall Gateway | slide 7</a:t></a:r>
        </a:p>
      </p:txBody>
    </p:sp></p:spTree></p:cSld><p:clrMapOvr><a:masterClrMapping/></p:sld>
</file>

<file path=ppt/slides/slide8.xml><?xml version="1.0" encoding="UTF-8" standalone="yes"?><p:sld xmlns:a="http://schemas.openxmlformats.org/drawingml/2006/main" xmlns:r="http://schemas.openxmlformats.org/officeDocument/2006/relationships" xmlns:p="http://schemas.openxmlformats.org/presentationml/2006/main"><p:cSld><p:bg><p:bgPr><a:solidFill><a:srgbClr val="FFFFFF"/></a:solidFill><a:effectLst/></p:bgPr></p:bg><p:spTree><p:nvGrpSpPr><p:cNvPr id="1" name=""/><p:cNvGrpSpPr/><p:nvPr/></p:nvGrpSpPr><p:grpSpPr><a:xfrm><a:off x="0" y="0"/><a:ext cx="0" cy="0"/><a:chOff x="0" y="0"/><a:chExt cx="0" cy="0"/></a:xfrm></p:grpSpPr>
    <p:sp>
      <p:nvSpPr><p:cNvPr id="2" name="Band 2"/><p:cNvSpPr/><p:nvPr/></p:nvSpPr>
      <p:spPr><a:xfrm><a:off x="0" y="0"/><a:ext cx="12191999" cy="384048"/></a:xfrm><a:prstGeom prst="rect"><a:avLst/></a:prstGeom><a:solidFill><a:srgbClr val="0F766E"/></a:solidFill><a:ln><a:noFill/></a:ln></p:spPr>
      <p:txBody><a:bodyPr/><a:lstStyle/><a:p/></p:txBody>
    </p:sp>
    <p:sp>
      <p:nvSpPr><p:cNvPr id="3" name="Text 3"/><p:cNvSpPr txBox="1"/><p:nvPr/></p:nvSpPr>
      <p:spPr><a:xfrm><a:off x="502920" y="566928"/><a:ext cx="11155680" cy="502920"/></a:xfrm><a:prstGeom prst="rect"><a:avLst/></a:prstGeom><a:noFill/><a:ln><a:noFill/></a:ln></p:spPr>
      <p:txBody>
        <a:bodyPr wrap="square" anchor="t"/>
        <a:lstStyle/>
        <a:p>
          <a:pPr algn="l"/>
          <a:r><a:rPr lang="pt-BR" sz="3000"><a:b/><a:solidFill><a:srgbClr val="102A43"/></a:solidFill></a:rPr><a:t>Aderencia Parcial ao TDE</a:t></a:r>
        </a:p>
      </p:txBody>
    </p:sp>
    <p:sp>
      <p:nvSpPr><p:cNvPr id="4" name="Text 4"/><p:cNvSpPr txBox="1"/><p:nvPr/></p:nvSpPr>
      <p:spPr><a:xfrm><a:off x="530352" y="1078992"/><a:ext cx="10972800" cy="411480"/></a:xfrm><a:prstGeom prst="rect"><a:avLst/></a:prstGeom><a:noFill/><a:ln><a:noFill/></a:ln></p:spPr>
      <p:txBody>
        <a:bodyPr wrap="square" anchor="t"/>
        <a:lstStyle/>
        <a:p>
          <a:pPr algn="l"/>
          <a:r><a:rPr lang="pt-BR" sz="1700"><a:solidFill><a:srgbClr val="52616B"/></a:solidFill></a:rPr><a:t>Itens atendidos ate a Fase 2</a:t></a:r>
        </a:p>
      </p:txBody>
    </p:sp>
    <p:sp>
      <p:nvSpPr><p:cNvPr id="5" name="Bullets 5"/><p:cNvSpPr txBox="1"/><p:nvPr/></p:nvSpPr>
      <p:spPr><a:xfrm><a:off x="685800" y="1554480"/><a:ext cx="10789920" cy="3840480"/></a:xfrm><a:prstGeom prst="rect"><a:avLst/></a:prstGeom><a:noFill/><a:ln><a:noFill/></a:ln></p:spPr>
      <p:txBody><a:bodyPr wrap="square" anchor="t"/><a:lstStyle/>
        <a:p>
          <a:pPr marL="285750" indent="-171450"><a:buChar char="•"/></a:pPr>
          <a:r><a:rPr lang="pt-BR" sz="2100"><a:solidFill><a:srgbClr val="263238"/></a:solidFill></a:rPr><a:t>Sistema baseado em ESP32 fisico com firmware C++/Arduino</a:t></a:r>
        </a:p>
        <a:p>
          <a:pPr marL="285750" indent="-171450"><a:buChar char="•"/></a:pPr>
          <a:r><a:rPr lang="pt-BR" sz="2100"><a:solidFill><a:srgbClr val="263238"/></a:solidFill></a:rPr><a:t>Interface web embarcada funcionando no proprio dispositivo</a:t></a:r>
        </a:p>
        <a:p>
          <a:pPr marL="285750" indent="-171450"><a:buChar char="•"/></a:pPr>
          <a:r><a:rPr lang="pt-BR" sz="2100"><a:solidFill><a:srgbClr val="263238"/></a:solidFill></a:rPr><a:t>Wi-Fi AP obrigatorio implementado</a:t></a:r>
        </a:p>
        <a:p>
          <a:pPr marL="285750" indent="-171450"><a:buChar char="•"/></a:pPr>
          <a:r><a:rPr lang="pt-BR" sz="2100"><a:solidFill><a:srgbClr val="263238"/></a:solidFill></a:rPr><a:t>Mais de uma task FreeRTOS criada e documentada no status</a:t></a:r>
        </a:p>
        <a:p>
          <a:pPr marL="285750" indent="-171450"><a:buChar char="•"/></a:pPr>
          <a:r><a:rPr lang="pt-BR" sz="2100"><a:solidFill><a:srgbClr val="263238"/></a:solidFill></a:rPr><a:t>Metricas iniciais de performance: uptime, heap, flash, sketch, AP e tempos de funcao</a:t></a:r>
        </a:p>
        <a:p>
          <a:pPr marL="285750" indent="-171450"><a:buChar char="•"/></a:pPr>
          <a:r><a:rPr lang="pt-BR" sz="2100"><a:solidFill><a:srgbClr val="263238"/></a:solidFill></a:rPr><a:t>Changelog acessivel pela interface e mantido no repositorio</a:t></a:r>
        </a:p></p:txBody>
    </p:sp>
    <p:sp>
      <p:nvSpPr><p:cNvPr id="6" name="Text 6"/><p:cNvSpPr txBox="1"/><p:nvPr/></p:nvSpPr>
      <p:spPr><a:xfrm><a:off x="530352" y="6473952"/><a:ext cx="11064240" cy="228600"/></a:xfrm><a:prstGeom prst="rect"><a:avLst/></a:prstGeom><a:noFill/><a:ln><a:noFill/></a:ln></p:spPr>
      <p:txBody>
        <a:bodyPr wrap="square" anchor="t"/>
        <a:lstStyle/>
        <a:p>
          <a:pPr algn="r"/>
          <a:r><a:rPr lang="pt-BR" sz="900"><a:solidFill><a:srgbClr val="6B7280"/></a:solidFill></a:rPr><a:t>ESP32 Mini Firewall Gateway | slide 8</a:t></a:r>
        </a:p>
      </p:txBody>
    </p:sp></p:spTree></p:cSld><p:clrMapOvr><a:masterClrMapping/></p:sld>
</file>

<file path=ppt/slides/slide9.xml><?xml version="1.0" encoding="UTF-8" standalone="yes"?><p:sld xmlns:a="http://schemas.openxmlformats.org/drawingml/2006/main" xmlns:r="http://schemas.openxmlformats.org/officeDocument/2006/relationships" xmlns:p="http://schemas.openxmlformats.org/presentationml/2006/main"><p:cSld><p:bg><p:bgPr><a:solidFill><a:srgbClr val="FFFFFF"/></a:solidFill><a:effectLst/></p:bgPr></p:bg><p:spTree><p:nvGrpSpPr><p:cNvPr id="1" name=""/><p:cNvGrpSpPr/><p:nvPr/></p:nvGrpSpPr><p:grpSpPr><a:xfrm><a:off x="0" y="0"/><a:ext cx="0" cy="0"/><a:chOff x="0" y="0"/><a:chExt cx="0" cy="0"/></a:xfrm></p:grpSpPr>
    <p:sp>
      <p:nvSpPr><p:cNvPr id="2" name="Band 2"/><p:cNvSpPr/><p:nvPr/></p:nvSpPr>
      <p:spPr><a:xfrm><a:off x="0" y="0"/><a:ext cx="12191999" cy="384048"/></a:xfrm><a:prstGeom prst="rect"><a:avLst/></a:prstGeom><a:solidFill><a:srgbClr val="0F766E"/></a:solidFill><a:ln><a:noFill/></a:ln></p:spPr>
      <p:txBody><a:bodyPr/><a:lstStyle/><a:p/></p:txBody>
    </p:sp>
    <p:sp>
      <p:nvSpPr><p:cNvPr id="3" name="Text 3"/><p:cNvSpPr txBox="1"/><p:nvPr/></p:nvSpPr>
      <p:spPr><a:xfrm><a:off x="502920" y="566928"/><a:ext cx="11155680" cy="502920"/></a:xfrm><a:prstGeom prst="rect"><a:avLst/></a:prstGeom><a:noFill/><a:ln><a:noFill/></a:ln></p:spPr>
      <p:txBody>
        <a:bodyPr wrap="square" anchor="t"/>
        <a:lstStyle/>
        <a:p>
          <a:pPr algn="l"/>
          <a:r><a:rPr lang="pt-BR" sz="3000"><a:b/><a:solidFill><a:srgbClr val="102A43"/></a:solidFill></a:rPr><a:t>Pendencias Tecnicas</a:t></a:r>
        </a:p>
      </p:txBody>
    </p:sp>
    <p:sp>
      <p:nvSpPr><p:cNvPr id="4" name="Text 4"/><p:cNvSpPr txBox="1"/><p:nvPr/></p:nvSpPr>
      <p:spPr><a:xfrm><a:off x="530352" y="1078992"/><a:ext cx="10972800" cy="411480"/></a:xfrm><a:prstGeom prst="rect"><a:avLst/></a:prstGeom><a:noFill/><a:ln><a:noFill/></a:ln></p:spPr>
      <p:txBody>
        <a:bodyPr wrap="square" anchor="t"/>
        <a:lstStyle/>
        <a:p>
          <a:pPr algn="l"/>
          <a:r><a:rPr lang="pt-BR" sz="1700"><a:solidFill><a:srgbClr val="52616B"/></a:solidFill></a:rPr><a:t>Itens ainda nao concluidos</a:t></a:r>
        </a:p>
      </p:txBody>
    </p:sp>
    <p:sp>
      <p:nvSpPr><p:cNvPr id="5" name="Bullets 5"/><p:cNvSpPr txBox="1"/><p:nvPr/></p:nvSpPr>
      <p:spPr><a:xfrm><a:off x="685800" y="1417320"/><a:ext cx="10835640" cy="4526280"/></a:xfrm><a:prstGeom prst="rect"><a:avLst/></a:prstGeom><a:noFill/><a:ln><a:noFill/></a:ln></p:spPr>
      <p:txBody><a:bodyPr wrap="square" anchor="t"/><a:lstStyle/>
        <a:p>
          <a:pPr marL="285750" indent="-171450"><a:buChar char="•"/></a:pPr>
          <a:r><a:rPr lang="pt-BR" sz="1900"><a:solidFill><a:srgbClr val="263238"/></a:solidFill></a:rPr><a:t>Logs INFO/WARN/ERROR/SECURITY com exportacao</a:t></a:r>
        </a:p>
        <a:p>
          <a:pPr marL="285750" indent="-171450"><a:buChar char="•"/></a:pPr>
          <a:r><a:rPr lang="pt-BR" sz="1900"><a:solidFill><a:srgbClr val="263238"/></a:solidFill></a:rPr><a:t>Persistencia em LittleFS e configuracao em NVS/Preferences</a:t></a:r>
        </a:p>
        <a:p>
          <a:pPr marL="285750" indent="-171450"><a:buChar char="•"/></a:pPr>
          <a:r><a:rPr lang="pt-BR" sz="1900"><a:solidFill><a:srgbClr val="263238"/></a:solidFill></a:rPr><a:t>Firewall didatico: rate limit, blocklist, allowlist e contencao</a:t></a:r>
        </a:p>
        <a:p>
          <a:pPr marL="285750" indent="-171450"><a:buChar char="•"/></a:pPr>
          <a:r><a:rPr lang="pt-BR" sz="1900"><a:solidFill><a:srgbClr val="263238"/></a:solidFill></a:rPr><a:t>Sensores fisicos: INA219 e DHT22 ou DS18B20</a:t></a:r>
        </a:p>
        <a:p>
          <a:pPr marL="285750" indent="-171450"><a:buChar char="•"/></a:pPr>
          <a:r><a:rPr lang="pt-BR" sz="1900"><a:solidFill><a:srgbClr val="263238"/></a:solidFill></a:rPr><a:t>Atuadores fisicos: rele e cooler com fonte adequada e GND comum</a:t></a:r>
        </a:p>
        <a:p>
          <a:pPr marL="285750" indent="-171450"><a:buChar char="•"/></a:pPr>
          <a:r><a:rPr lang="pt-BR" sz="1900"><a:solidFill><a:srgbClr val="263238"/></a:solidFill></a:rPr><a:t>Botao com interrupcao hardware e ISR minima</a:t></a:r>
        </a:p>
        <a:p>
          <a:pPr marL="285750" indent="-171450"><a:buChar char="•"/></a:pPr>
          <a:r><a:rPr lang="pt-BR" sz="1900"><a:solidFill><a:srgbClr val="263238"/></a:solidFill></a:rPr><a:t>Modo ECO/gerenciamento de energia</a:t></a:r>
        </a:p>
        <a:p>
          <a:pPr marL="285750" indent="-171450"><a:buChar char="•"/></a:pPr>
          <a:r><a:rPr lang="pt-BR" sz="1900"><a:solidFill><a:srgbClr val="263238"/></a:solidFill></a:rPr><a:t>Historico de 24 horas ou limitacao documentada com teste parcial</a:t></a:r>
        </a:p></p:txBody>
    </p:sp>
    <p:sp>
      <p:nvSpPr><p:cNvPr id="6" name="Text 6"/><p:cNvSpPr txBox="1"/><p:nvPr/></p:nvSpPr>
      <p:spPr><a:xfrm><a:off x="530352" y="6473952"/><a:ext cx="11064240" cy="228600"/></a:xfrm><a:prstGeom prst="rect"><a:avLst/></a:prstGeom><a:noFill/><a:ln><a:noFill/></a:ln></p:spPr>
      <p:txBody>
        <a:bodyPr wrap="square" anchor="t"/>
        <a:lstStyle/>
        <a:p>
          <a:pPr algn="r"/>
          <a:r><a:rPr lang="pt-BR" sz="900"><a:solidFill><a:srgbClr val="6B7280"/></a:solidFill></a:rPr><a:t>ESP32 Mini Firewall Gateway | slide 9</a:t></a:r>
        </a:p>
      </p:txBody>
    </p:sp></p:spTree></p:cSld><p:clrMapOvr><a:masterClrMapping/></p:sld>
</file>

<file path=ppt/slides/slide10.xml><?xml version="1.0" encoding="UTF-8" standalone="yes"?><p:sld xmlns:a="http://schemas.openxmlformats.org/drawingml/2006/main" xmlns:r="http://schemas.openxmlformats.org/officeDocument/2006/relationships" xmlns:p="http://schemas.openxmlformats.org/presentationml/2006/main"><p:cSld><p:bg><p:bgPr><a:solidFill><a:srgbClr val="FFFFFF"/></a:solidFill><a:effectLst/></p:bgPr></p:bg><p:spTree><p:nvGrpSpPr><p:cNvPr id="1" name=""/><p:cNvGrpSpPr/><p:nvPr/></p:nvGrpSpPr><p:grpSpPr><a:xfrm><a:off x="0" y="0"/><a:ext cx="0" cy="0"/><a:chOff x="0" y="0"/><a:chExt cx="0" cy="0"/></a:xfrm></p:grpSpPr>
    <p:sp>
      <p:nvSpPr><p:cNvPr id="2" name="Band 2"/><p:cNvSpPr/><p:nvPr/></p:nvSpPr>
      <p:spPr><a:xfrm><a:off x="0" y="0"/><a:ext cx="12191999" cy="384048"/></a:xfrm><a:prstGeom prst="rect"><a:avLst/></a:prstGeom><a:solidFill><a:srgbClr val="0F766E"/></a:solidFill><a:ln><a:noFill/></a:ln></p:spPr>
      <p:txBody><a:bodyPr/><a:lstStyle/><a:p/></p:txBody>
    </p:sp>
    <p:sp>
      <p:nvSpPr><p:cNvPr id="3" name="Text 3"/><p:cNvSpPr txBox="1"/><p:nvPr/></p:nvSpPr>
      <p:spPr><a:xfrm><a:off x="502920" y="566928"/><a:ext cx="11155680" cy="502920"/></a:xfrm><a:prstGeom prst="rect"><a:avLst/></a:prstGeom><a:noFill/><a:ln><a:noFill/></a:ln></p:spPr>
      <p:txBody>
        <a:bodyPr wrap="square" anchor="t"/>
        <a:lstStyle/>
        <a:p>
          <a:pPr algn="l"/>
          <a:r><a:rPr lang="pt-BR" sz="3000"><a:b/><a:solidFill><a:srgbClr val="102A43"/></a:solidFill></a:rPr><a:t>Proximos Passos</a:t></a:r>
        </a:p>
      </p:txBody>
    </p:sp>
    <p:sp>
      <p:nvSpPr><p:cNvPr id="4" name="Text 4"/><p:cNvSpPr txBox="1"/><p:nvPr/></p:nvSpPr>
      <p:spPr><a:xfrm><a:off x="530352" y="1078992"/><a:ext cx="10972800" cy="411480"/></a:xfrm><a:prstGeom prst="rect"><a:avLst/></a:prstGeom><a:noFill/><a:ln><a:noFill/></a:ln></p:spPr>
      <p:txBody>
        <a:bodyPr wrap="square" anchor="t"/>
        <a:lstStyle/>
        <a:p>
          <a:pPr algn="l"/>
          <a:r><a:rPr lang="pt-BR" sz="1700"><a:solidFill><a:srgbClr val="52616B"/></a:solidFill></a:rPr><a:t>Sequencia recomendada para reduzir risco</a:t></a:r>
        </a:p>
      </p:txBody>
    </p:sp>
    <p:sp>
      <p:nvSpPr><p:cNvPr id="5" name="Bullets 5"/><p:cNvSpPr txBox="1"/><p:nvPr/></p:nvSpPr>
      <p:spPr><a:xfrm><a:off x="777240" y="1600200"/><a:ext cx="10607040" cy="4023360"/></a:xfrm><a:prstGeom prst="rect"><a:avLst/></a:prstGeom><a:noFill/><a:ln><a:noFill/></a:ln></p:spPr>
      <p:txBody><a:bodyPr wrap="square" anchor="t"/><a:lstStyle/>
        <a:p>
          <a:pPr marL="285750" indent="-171450"><a:buChar char="•"/></a:pPr>
          <a:r><a:rPr lang="pt-BR" sz="2100"><a:solidFill><a:srgbClr val="263238"/></a:solidFill></a:rPr><a:t>1. Implementar logs e persistencia antes de expandir o firewall</a:t></a:r>
        </a:p>
        <a:p>
          <a:pPr marL="285750" indent="-171450"><a:buChar char="•"/></a:pPr>
          <a:r><a:rPr lang="pt-BR" sz="2100"><a:solidFill><a:srgbClr val="263238"/></a:solidFill></a:rPr><a:t>2. Medir stack high watermark e completar cinco funcoes principais</a:t></a:r>
        </a:p>
        <a:p>
          <a:pPr marL="285750" indent="-171450"><a:buChar char="•"/></a:pPr>
          <a:r><a:rPr lang="pt-BR" sz="2100"><a:solidFill><a:srgbClr val="263238"/></a:solidFill></a:rPr><a:t>3. Validar sensores ausentes sem derrubar o sistema</a:t></a:r>
        </a:p>
        <a:p>
          <a:pPr marL="285750" indent="-171450"><a:buChar char="•"/></a:pPr>
          <a:r><a:rPr lang="pt-BR" sz="2100"><a:solidFill><a:srgbClr val="263238"/></a:solidFill></a:rPr><a:t>4. Integrar rele/cooler com cuidado eletrico e evidencias fisicas</a:t></a:r>
        </a:p>
        <a:p>
          <a:pPr marL="285750" indent="-171450"><a:buChar char="•"/></a:pPr>
          <a:r><a:rPr lang="pt-BR" sz="2100"><a:solidFill><a:srgbClr val="263238"/></a:solidFill></a:rPr><a:t>5. Implementar modo ECO e documentar trade-off de latencia/consumo</a:t></a:r>
        </a:p>
        <a:p>
          <a:pPr marL="285750" indent="-171450"><a:buChar char="•"/></a:pPr>
          <a:r><a:rPr lang="pt-BR" sz="2100"><a:solidFill><a:srgbClr val="263238"/></a:solidFill></a:rPr><a:t>6. Atualizar relatorio ABNT, plano de testes e evidencias da defesa</a:t></a:r>
        </a:p></p:txBody>
    </p:sp>
    <p:sp>
      <p:nvSpPr><p:cNvPr id="6" name="Band 6"/><p:cNvSpPr/><p:nvPr/></p:nvSpPr>
      <p:spPr><a:xfrm><a:off x="777240" y="5623560"/><a:ext cx="10607040" cy="502920"/></a:xfrm><a:prstGeom prst="rect"><a:avLst/></a:prstGeom><a:solidFill><a:srgbClr val="FFF4E5"/></a:solidFill><a:ln><a:noFill/></a:ln></p:spPr>
      <p:txBody><a:bodyPr/><a:lstStyle/><a:p/></p:txBody>
    </p:sp>
    <p:sp>
      <p:nvSpPr><p:cNvPr id="7" name="Text 7"/><p:cNvSpPr txBox="1"/><p:nvPr/></p:nvSpPr>
      <p:spPr><a:xfrm><a:off x="960120" y="5751576"/><a:ext cx="10241280" cy="237744"/></a:xfrm><a:prstGeom prst="rect"><a:avLst/></a:prstGeom><a:noFill/><a:ln><a:noFill/></a:ln></p:spPr>
      <p:txBody>
        <a:bodyPr wrap="square" anchor="t"/>
        <a:lstStyle/>
        <a:p>
          <a:pPr algn="l"/>
          <a:r><a:rPr lang="pt-BR" sz="1500"><a:b/><a:solidFill><a:srgbClr val="7C2D12"/></a:solidFill></a:rPr><a:t>Limite importante: ate agora o projeto esta na Fase 2; os itens acima sao backlog, nao resultado testado.</a:t></a:r>
        </a:p>
      </p:txBody>
    </p:sp>
    <p:sp>
      <p:nvSpPr><p:cNvPr id="8" name="Text 8"/><p:cNvSpPr txBox="1"/><p:nvPr/></p:nvSpPr>
      <p:spPr><a:xfrm><a:off x="530352" y="6473952"/><a:ext cx="11064240" cy="228600"/></a:xfrm><a:prstGeom prst="rect"><a:avLst/></a:prstGeom><a:noFill/><a:ln><a:noFill/></a:ln></p:spPr>
      <p:txBody>
        <a:bodyPr wrap="square" anchor="t"/>
        <a:lstStyle/>
        <a:p>
          <a:pPr algn="r"/>
          <a:r><a:rPr lang="pt-BR" sz="900"><a:solidFill><a:srgbClr val="6B7280"/></a:solidFill></a:rPr><a:t>ESP32 Mini Firewall Gateway | slide 10</a:t></a:r>
        </a:p>
      </p:txBody>
    </p:sp></p:spTree></p:cSld><p:clrMapOvr><a:masterClrMapping/></p:sld>
</file>

<file path=ppt/theme/theme1.xml><?xml version="1.0" encoding="utf-8"?>
<a:theme xmlns:a="http://schemas.openxmlformats.org/drawingml/2006/main" name="ESP32">
  <a:themeElements>
    <a:clrScheme name="ESP32">
      <a:dk1>
        <a:srgbClr val="102A43"/>
      </a:dk1>
      <a:lt1>
        <a:srgbClr val="FFFFFF"/>
      </a:lt1>
      <a:dk2>
        <a:srgbClr val="1F2937"/>
      </a:dk2>
      <a:lt2>
        <a:srgbClr val="F4F6F8"/>
      </a:lt2>
      <a:accent1>
        <a:srgbClr val="0F766E"/>
      </a:accent1>
      <a:accent2>
        <a:srgbClr val="2563EB"/>
      </a:accent2>
      <a:accent3>
        <a:srgbClr val="F59E0B"/>
      </a:accent3>
      <a:accent4>
        <a:srgbClr val="DC2626"/>
      </a:accent4>
      <a:accent5>
        <a:srgbClr val="4B5563"/>
      </a:accent5>
      <a:accent6>
        <a:srgbClr val="16A34A"/>
      </a:accent6>
      <a:hlink>
        <a:srgbClr val="2563EB"/>
      </a:hlink>
      <a:folHlink>
        <a:srgbClr val="7C3AED"/>
      </a:folHlink>
    </a:clrScheme>
    <a:fontScheme name="Arial">
      <a:majorFont>
        <a:latin typeface="Arial"/>
      </a:majorFont>
      <a:minorFont>
        <a:latin typeface="Arial"/>
      </a:minorFont>
    </a:fontScheme>
    <a:fmtScheme name="Default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OpenXML</Application>
  <PresentationFormat>Widescreen</PresentationFormat>
  <Slides>10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ESP32 Mini Firewall Gateway - Apresentacao</dc:title>
  <dc:subject>TDE Performance de Sistemas Ciberfisicos</dc:subject>
  <dc:creator>Projeto ESP32 Mini Firewall Gateway</dc:creator>
  <cp:lastModifiedBy>Projeto ESP32 Mini Firewall Gateway</cp:lastModifiedBy>
</cp:coreProperties>
</file>